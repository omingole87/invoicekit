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1482759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731520"/>
            <a:ext cx="8961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12E81"/>
                </a:solidFill>
              </a:defRPr>
            </a:pPr>
            <a:r>
              <a:t>SHRI SANT GAJANAN MAHARAJ COLLEGE OF ENGINEERING, SHEGAON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DEPARTMENT OF INFORMATION TECHNOLOGY | MAJOR ACADEMIC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10362895" cy="2194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46E5"/>
                </a:solidFill>
              </a:defRPr>
            </a:pPr>
            <a:r>
              <a:t>InvoiceKit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Enterprise Shared Component Library &amp; Universal Multi-Target Invoicing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Token-driven Design System • WCAG AA Accessibility Enforcement • Single-Template DOM, Vector PDF &amp; Email Renderers • Indian GST 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50292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46634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STUDENT DEVELOPER CREDENTIALS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Name: Om Vijay Ingole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Branch: Information Technology (IT)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Institution: Shri Sant Gajanan Maharaj College of Engg.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05937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6634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EVALUATION DOMAINS ADDRESSED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Architecture: Monorepo workspace decoupling tokens &amp; UI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Innovation: Abstract multi-target driver pattern for PDF/DOM/Email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QA &amp; Standards: 100% WCAG AA contrast ratio compliance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Industrial Fit: Indian GST (CGST/SGST/IGST), SAC &amp; UPI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1. RESEARCH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Industry Motivation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The Enterprise UI Drift Dilemma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Redundant UI Re-implementation: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In enterprise SaaS and billing software, different modules hand-roll their own buttons, tables, and modal dialogues, leading to high code bloat.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Visual &amp; Accessibility Drift: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Colors diverge across screens; contrast drops below legal WCAG thresholds (creating severe non-compliance liabilities).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The Triplicate Bug Burden: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When an input validation or table formatting bug is resolved on an invoice screen, it has to be patched 3 to 5 separate times across other portals.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Multi-Medium Fragmentation: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Renderings diverge wildly: the screen view looks modern, but generated PDFs break pagination, and billing notification emails look distorted in Outlook/Gmail.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Proposed Solution: The InvoiceKit Approach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✔ Single Source of Truth Design Tokens: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All visual properties (palette, typography, 4px grid spacing, radii, elevation) live in an isolated @invoicekit/tokens package.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✔ Zero-Drift 24-Component Suite: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Strict TypeScript props contracts. Zero component-level hardcoded styles. Strictly tokenized primitives.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✔ Universal Driver Pattern: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A canonical renderInvoice(invoice, out) interface implemented across three outputs (DOM, PDF, Email HTML/ASCII).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✔ Automated Quality Assurance: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Pre-commit WCAG AA color contrast math verification (&amp;ge; 4.5:1) integrated into CI/CD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2. PROJECT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 &amp; Scope of Work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1. Shared Component Library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Build 24+ enterprise UI primitives (Button, Table, Modal, Toast, Badge, Input, etc.).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Export strict TypeScript interfaces for every prop.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Token-driven styling with zero per-component visual drift.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Complete interactive states (hover, focus, disabled, loading, error).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2. Universal Invoice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Define canonical Invoice data schema (Zod/TypeScript).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Implement abstract InvoiceRendererOutput&lt;T&gt; interface.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Output 1: Interactive responsive React DOM view.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Output 2: Vector ISO A4 print-ready PDF (via jsPDF).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Output 3: Responsive inline-CSS HTML email + ASCII plain-text.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3. Standards &amp; Indian Localization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Automated WCAG AA relative luminance contrast audit (&amp;ge; 4.5:1).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Indian Rupee (₹ INR) Lakhs/Crores numbering format.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15-digit GSTIN, 10-digit PAN, HSN/SAC code tracking.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Dual GST modes (IGST vs CGST+SGST) and Indian Banking/UPI.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3. ARCHITECTURE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Monorepo Hierarchy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858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Layer 1: @invoicekit/tokens  —  The Foundation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Defines color palettes, typography, spacing, WCAG 2.1 luminance algorithm, and CSS root variables.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6858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Layer 2: @invoicekit/ui  —  Shared UI Primitives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24 typed components consuming design tokens. Zero hardcoded CSS. Emits accessible UI primitives.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6858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Layer 3: @invoicekit/renderer  —  Universal Invoicing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Dispatches canonical invoice data across DOM, Vector PDF, and Email HTML/ASCII drivers.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68580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6492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Layer 4: @invoicekit/docs  —  Playground &amp; Studio App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Interactive Storybook alternative, live 3-renderer preview, bank toggles, and WCAG auditor.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45920"/>
            <a:ext cx="3596335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288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Key Architectural Advantages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Modular Boundaries: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Tokens, UI, and renderers can be consumed independently or together.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Zero Bundler Lock-in: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Vite, Next.js, or Remix can ingest packages without transpilation snags.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Local Distribution: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Fully packaging-ready using npm workspaces and npm pack tarballs.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Type Integrity: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Path-aliased TypeScript configuration guarantees zero 'any' leaks across workspaces.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4. ACCESSIBILITY &amp;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Design Tokens &amp; WCAG AA Contrast Audit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Mathematical Contrast Formulation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W3C Relative Luminance (L):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Linearized sRGB channels:</a:t>
            </a:r>
            <a:br/>
            <a:r>
              <a:t>L = 0.2126 * R_lin + 0.7152 * G_lin + 0.0722 * B_lin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Contrast Ratio Formulation: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Ratio = (L1 + 0.05) / (L2 + 0.05)</a:t>
            </a:r>
            <a:br/>
            <a:r>
              <a:t>where L1 = lighter color, L2 = darker color.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W3C WCAG 2.1 AA Threshold: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Normal Body Text: Ratio &amp;ge; 4.5:1</a:t>
            </a:r>
            <a:br/>
            <a:r>
              <a:t>Large Text (&amp;ge;18pt / &amp;ge;14pt bold): Ratio &amp;ge; 3.0:1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W3C WCAG 2.1 AAA Threshold: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Normal Text: Ratio &amp;ge; 7.0:1</a:t>
            </a:r>
            <a:br/>
            <a:r>
              <a:t>Large Text: Ratio &amp;ge; 4.5:1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Automated Compliance Audit Matrix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✔ Body Text (Slate-900 on White)</a:t>
            </a:r>
            <a:br/>
            <a:r>
              <a:t>   #0F172A on #FFFFFF  ➔  16.1:1 (PASS AAA)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✔ Secondary Text (Slate-600 on White)</a:t>
            </a:r>
            <a:br/>
            <a:r>
              <a:t>   #475569 on #FFFFFF  ➔  7.0:1 (PASS AAA)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✔ Primary Button (White on Indigo-600)</a:t>
            </a:r>
            <a:br/>
            <a:r>
              <a:t>   #FFFFFF on #4F46E5  ➔  5.9:1 (PASS AA)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✔ Danger Button (White on Red-600)</a:t>
            </a:r>
            <a:br/>
            <a:r>
              <a:t>   #FFFFFF on #DC2626  ➔  4.6:1 (PASS AA)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✔ Paid Badge (Emerald-800 on Emerald-100)</a:t>
            </a:r>
            <a:br/>
            <a:r>
              <a:t>   #065F46 on #D1FAE5  ➔  7.4:1 (PASS AAA)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✔ Pending Badge (Amber-900 on Amber-100)</a:t>
            </a:r>
            <a:br/>
            <a:r>
              <a:t>   #78350F on #FEF3C7  ➔  7.8:1 (PASS AAA)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✔ Overdue Badge (Red-800 on Red-100)</a:t>
            </a:r>
            <a:br/>
            <a:r>
              <a:t>   #991B1B on #FEE2E2  ➔  7.1:1 (PASS AAA)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5. COMPONENT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Shared Component Suite: 24 Enterprise Primitives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Forms &amp; Inputs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Button (5 variants, 3 sizes, loading)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Input (validation, error, icon slots)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Textarea (multiline invoice notes)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CurrencyInput (₹ INR prefix, precision)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DatePicker (formatted dates)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Select (accessible dropdown)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Checkbox &amp; Switch (toggle primitives)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Data &amp; Tables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Table (data grid with striping)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TableHeader &amp; TableBody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TableRow &amp; TableHead (align left/right)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TableCell (monospace currency align)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TableFooter (totals summation bar)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Divider (horizontal/vertical labels)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Kbd (shortcut key badges)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Feedback &amp; Modals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Modal (accessible dialog + ESC trap)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Toast (context-driven auto-dismiss)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Alert (system status banners)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Badge (WCAG AA compliant status)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StatusPill (dot-indicator lifecycle)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Tooltip (hover/focus helper)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Skeleton (loading placeholders)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Surfaces &amp; Nav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Card (outlined, elevated, flat)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CardHeader &amp; CardContent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CardFooter (signatory sections)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Tabs (TabsList, Trigger, Content)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Avatar (image &amp; initials fallback)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EmptyState (zero-state illustrations)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DropdownMenu (popup actions)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6.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Flagship Pattern: renderInvoice(invoice, out)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Abstract Driver Contract &amp; Dispatcher</a:t>
            </a:r>
          </a:p>
          <a:p>
            <a:pPr>
              <a:defRPr sz="950">
                <a:solidFill>
                  <a:srgbClr val="312E81"/>
                </a:solidFill>
                <a:latin typeface="Courier New"/>
              </a:defRPr>
            </a:pPr>
            <a:r>
              <a:t>// 1. Abstract Renderer Interface</a:t>
            </a:r>
            <a:br/>
            <a:r>
              <a:t>export interface InvoiceRendererOutput&lt;T&gt; {</a:t>
            </a:r>
            <a:br/>
            <a:r>
              <a:t>  header(title, number, status, date, due, pos): void;</a:t>
            </a:r>
            <a:br/>
            <a:r>
              <a:t>  parties(issuer: Party, client: Party): void;</a:t>
            </a:r>
            <a:br/>
            <a:r>
              <a:t>  row(item: InvoiceItem, index: number): void;</a:t>
            </a:r>
            <a:br/>
            <a:r>
              <a:t>  total(totals: InvoiceTotals): void;</a:t>
            </a:r>
            <a:br/>
            <a:r>
              <a:t>  notes(notes?: string, terms?: string): void;</a:t>
            </a:r>
            <a:br/>
            <a:r>
              <a:t>  footer(payment?: PaymentDetails): void;</a:t>
            </a:r>
            <a:br/>
            <a:r>
              <a:t>  getResult(): T;</a:t>
            </a:r>
            <a:br/>
            <a:r>
              <a:t>}</a:t>
            </a:r>
            <a:br/>
            <a:br/>
            <a:r>
              <a:t>// 2. Canonical Dispatcher Function</a:t>
            </a:r>
            <a:br/>
            <a:r>
              <a:t>export function renderInvoice&lt;T&gt;(</a:t>
            </a:r>
            <a:br/>
            <a:r>
              <a:t>  invoice: Invoice, </a:t>
            </a:r>
            <a:br/>
            <a:r>
              <a:t>  out: InvoiceRendererOutput&lt;T&gt;</a:t>
            </a:r>
            <a:br/>
            <a:r>
              <a:t>): T {</a:t>
            </a:r>
            <a:br/>
            <a:r>
              <a:t>  out.header(...);</a:t>
            </a:r>
            <a:br/>
            <a:r>
              <a:t>  out.parties(invoice.issuer, invoice.client);</a:t>
            </a:r>
            <a:br/>
            <a:r>
              <a:t>  invoice.items.forEach((item, i) =&gt; out.row(item, i));</a:t>
            </a:r>
            <a:br/>
            <a:r>
              <a:t>  out.total(invoice.totals);</a:t>
            </a:r>
            <a:br/>
            <a:r>
              <a:t>  out.notes(invoice.notes, invoice.terms);</a:t>
            </a:r>
            <a:br/>
            <a:r>
              <a:t>  out.footer(invoice.paymentDetails);</a:t>
            </a:r>
            <a:br/>
            <a:r>
              <a:t>  return out.getResult();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96793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Why Evaluators Value This Pattern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Decoupled Business Logic: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Invoice data calculation (tax rates, discounts, totals) is completely detached from presentation logic.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Elimination of Duplicate Code: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A single invoice object drives web display, client PDF downloads, and automated email receipts.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Open-Closed Principle (SOLID):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Adding a 4th renderer (e.g. WhatsApp markdown or POS thermal receipt) requires zero changes to the core template!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Synchronous &amp; Vector Crisp: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DOM uses React components, PDF uses vector coordinate geometry (jsPDF), and Email uses table-inline styles.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7. MULTI-TARGET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Three Rendering Targets: DOM, Vector PDF &amp; Email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Output 1: React DOM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Interactive On-Screen UI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Driver: DOMInvoiceRenderer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Returns: React.ReactElement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Features: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Rendered using @invoicekit/ui components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Responsive card &amp; table layout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StatusPill &amp; GST compliance badges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Monospace right-aligned currency columns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Interactive live bank &amp; UPI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Output 2: Vector PDF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ISO A4 Print-Ready Document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Driver: PDFInvoiceRenderer (jsPDF)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Returns: { doc, download(), getBlobUrl() }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Features: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Standard ISO A4 (210 x 297 mm)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Mathematical coordinate grid layout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Brand accent bands &amp; typography hierarchy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Number formatted in Indian lakhs/thousands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1-Click direct client PDF download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Output 3: Responsive Email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HTML &amp; ASCII Plain Text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Driver: EmailInvoiceRenderer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Returns: { html: string, plainText: string }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Features: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Bulletproof inline-CSS &lt;table&gt; structure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Compatible with Outlook, Gmail &amp; Apple Mail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Monospace ASCII plain-text fallback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One-click copy HTML / Plain text triggers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• Integrated bank &amp; instant UPI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8. INDIAN MARKET SPECIALIZATION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Indian Localization &amp; GST Compliance Architecture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Currency &amp; Numbering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Primary Currency: Indian Rupee (₹ / INR)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Numbering Scheme: Lakhs &amp; Crores (en-IN formatting)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Formatted example: ₹4,50,000.00 instead of 450,000.00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CurrencyInput primitive with default ₹ prefix &amp; INR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Indian GST Statutory Rules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15-Digit GSTIN: Mapped for both Supplier and Buyer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10-Digit PAN: Permanent Account Number verification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State &amp; State Code: Karnataka (29), Maharashtra (27), etc.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HSN/SAC Codes: Mandatory SAC 998311/998314 for IT &amp; Services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Dual GST Modes: Interstate (IGST 18%) vs Intrastate (CGST 9% + SGST 9%)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Indian Banking &amp; UPI Rails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Major Commercial Banks: HDFC Bank, SBI, ICICI, Axis, Kotak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IFSC Codes: 11-character Indian Financial System Codes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Account Categorization: Current A/C vs Savings A/C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Instant UPI Payment: VPA (e.g. bharatcloud@okhdfcbank) with instant mobile payment settlement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Legal Declarations: TDS Section 194J &amp; local jurisdiction notice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9. TOOLING &amp; 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Developer Experience: Playground &amp; Documentation Site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The Storybook Alternative: @invoicekit/docs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 Overhead Docs App: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Built with Vite &amp; React 18, providing sub-millisecond hot module reloading (HMR) without bulky Storybook dependencies.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Interactive Component Playground: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Every single component out of the 24 primitives can be inspected live with toggles for loading, disabled, error states, and sizing.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Live Notification Triggers: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Contextual Toast triggers (Success, Error, Warning, Info) and accessible Modal dialogues tested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Integrated Studio &amp; WCAG Inspector</a:t>
            </a:r>
          </a:p>
          <a:p>
            <a:pPr>
              <a:defRPr b="1">
                <a:solidFill>
                  <a:srgbClr val="0F172A"/>
                </a:solidFill>
              </a:defRPr>
            </a:pPr>
            <a:r>
              <a:t>✔ The Invoice Studio: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Allows real-time toggling of Indian bank accounts (HDFC, SBI, ICICI, etc.), GST modes (IGST vs CGST/SGST), and discounts.</a:t>
            </a:r>
          </a:p>
          <a:p>
            <a:pPr>
              <a:defRPr b="1">
                <a:solidFill>
                  <a:srgbClr val="0F172A"/>
                </a:solidFill>
              </a:defRPr>
            </a:pPr>
            <a:r>
              <a:t>✔ Interactive WCAG AA Inspector: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Users can input arbitrary Foreground and Background Hex colors to calculate the exact W3C contrast ratio and view live pass/fail badges.</a:t>
            </a:r>
          </a:p>
          <a:p>
            <a:pPr>
              <a:defRPr b="1">
                <a:solidFill>
                  <a:srgbClr val="0F172A"/>
                </a:solidFill>
              </a:defRPr>
            </a:pPr>
            <a:r>
              <a:t>✔ One-Click Export: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Direct triggers for downloading vector PDF invoices and copying bulletproof inline-CSS email HTML.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10. VALIDATION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Testing, Verification &amp; Quality Assurance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1. WCAG AA Contrast Testing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packages/tokens/src/contrast.test.ts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Automated test asserting all default design tokens exceed 4.5:1 ratio.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Validates black/white standard (21:1).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Guarantees failing pairs (&lt; 4.5:1) are rejected.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Result: 100% PASS (3 of 3 tests passing in 2ms)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2. Multi-Renderer Engine Testing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packages/renderer/src/renderer.test.ts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Validates DOMInvoiceRenderer output generation.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Validates PDFInvoiceRenderer vector doc &amp; download function.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Validates EmailInvoiceRenderer HTML &amp; ASCII output with GSTIN, IFSC, and UPI fields.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Result: 100% PASS (3 of 3 tests passing in 22ms)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3. Static Type Checking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TypeScript 5.7.2 (tsc --noEmit)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Global strict typing across monorepo workspace.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Zero 'any' leaks in event handlers and component props.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Path alias resolution mapped across packages.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Result: 0 ERRORS (Clean compilation exit code 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4. Package Integrity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npm pack verification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Verifies standalone packaging of all 3 libraries.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Generated: invoicekit-tokens-1.0.0.tgz (3.6 kB)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Generated: invoicekit-ui-1.0.0.tgz (10.9 kB)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Generated: invoicekit-renderer-1.0.0.tgz (7.9 kB)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11. DEVOPS &amp;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CI/CD Pipeline &amp; Packaging Strategy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GitHub Actions CI Workflow (.github/workflows/ci.yml)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Step 1: Checkout &amp; Cache: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actions/checkout@v4 and actions/setup-node@v4 with automated npm caching.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Step 2: Clean Dependency Install: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npm ci ensuring exact dependency lockfile parity.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Step 3: Static Typecheck Gate: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npm run typecheck (tsc --noEmit) catches prop mismatches across workspaces.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Step 4: Automated Testing Suite: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npm test executes Vitest contrast calculations and renderer assertions.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Step 5: Production Build: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npm run build bundles docs and packages via Vite.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Step 6: Tarball Packaging Gate: 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npm pack validates that all three packages can be published to npm or local registries.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Versioning, Release &amp; Distribution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Semantic Versioning (SemVer):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Adheres to v1.0.0 standards with breaking change boundaries.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Comprehensive CHANGELOG.md: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Full release notes documenting token systems, 24 components, and Indian GST features.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Workspace Inter-linking: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pnpm/npm workspace:* protocol allows packages to import sibling libraries directly during active development.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Consumer Integration: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Enterprises can install either via internal Verdaccio / Artifactory or local npm link / npm pack.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12.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Future Scope &amp; Commercial Applications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Phase 1: Direct Indian IRP Portal Sync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Direct API integration with the Indian GST E-Invoicing IRP portal (NIC / ClearTax APIs).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Automatic generation and embedding of digitally signed QR codes and 64-character IRNs (Invoice Reference Numbers).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Phase 2: Dynamic UPI QR Payment Codes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Embedding dynamic Bharat UPI QR codes directly onto PDFs and emails.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Pre-filled amount and invoice reference enabling instant 1-scan mobile settlement via GPay / PhonePe / Paytm.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Phase 3: Multi-State E-Way Bill Generation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Automatic distance-based E-Way bill generation for consignments exceeding statutory thresholds.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Automated vehicle number tracking and consignment delivery acknowledgment.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Phase 4: Commercial SaaS Monorepo Distribution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Publishing as an open-source headless UI library with optional enterprise support.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Pre-built integrations for Tally ERP, Zoho Books, and SAP Business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Project Defense Summary</a:t>
            </a:r>
          </a:p>
        </p:txBody>
      </p:sp>
      <p:pic>
        <p:nvPicPr>
          <p:cNvPr id="5" name="Picture 4" descr="ssgmc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912467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Summary of Project Achievements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Problem Solved: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Eliminated enterprise UI drift and redundant bug fixing by unifying design tokens across 24 typed components.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Innovative Renderer Architecture: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Successfully realized the 'One source of truth, three renderers' paradigm, delivering pixel-accurate React DOM, vector ISO A4 PDF, and inline HTML email from a single template.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Strict Accessibility Adherence: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100% of component text/background pairs pass WCAG 2.1 AA (&amp;ge; 4.5:1) verified via automated mathematical tests.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Production Indian Localization: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Engineered specifically for Indian business software with full GSTIN, PAN, SAC codes, Indian banking (HDFC/SBI/ICICI), and UPI integration.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DevOps Excellence: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Complete GitHub Actions CI pipeline, zero TypeScript errors, and verified npm package 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Thank You!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Questions &amp; Evaluator Discussion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Project Author:</a:t>
            </a:r>
            <a:br/>
            <a:r>
              <a:t>Om Vijay Ingole</a:t>
            </a:r>
            <a:br/>
            <a:r>
              <a:t>B.Tech — Information Technology</a:t>
            </a:r>
            <a:br/>
            <a:br/>
            <a:r>
              <a:t>Institution:</a:t>
            </a:r>
            <a:br/>
            <a:r>
              <a:t>Shri Sant Gajanan Maharaj College of Engineering (SSGMCE), Shegaon</a:t>
            </a:r>
            <a:br/>
            <a:br/>
            <a:r>
              <a:t>Repository:</a:t>
            </a:r>
            <a:br/>
            <a:r>
              <a:t>InvoiceKit Monorepo 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